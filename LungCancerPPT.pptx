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7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8" r:id="rId11"/>
    <p:sldId id="269" r:id="rId12"/>
    <p:sldId id="271" r:id="rId13"/>
    <p:sldId id="264" r:id="rId14"/>
    <p:sldId id="265" r:id="rId15"/>
    <p:sldId id="266" r:id="rId16"/>
    <p:sldId id="267" r:id="rId17"/>
  </p:sldIdLst>
  <p:sldSz cx="16256000" cy="9144000"/>
  <p:notesSz cx="9144000" cy="16256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084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D70DE-DB58-3528-BB09-543333FC6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1D7F2B-2AC4-EAF1-7A88-2F759097E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C4F98-210F-ADD7-55B0-82B04E8C7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18665-E95E-6C8A-B0F2-90495510DE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7978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4406E-7C49-E1ED-F8B6-08CB7221A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5AF60C-9007-A168-E0CA-07FB13FBA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230C6A-9D7E-2FD1-CD8E-B1FCC361F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FE002-1A04-7F18-963E-4F811E1D68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83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0EAA-EA02-4A7A-F5FB-A2F874358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C7EB6-3F1B-1D48-A37D-C0191E707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8B983-E860-F150-EA77-77FCC3A57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D7B74-AD5A-3F38-392B-6F519C526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913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1D96D-B5BF-281C-4209-CBE5FC276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E94A0-AD75-97FD-7C0A-9A687C54D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EB4A6-DFB7-E5D6-00CC-5E823CE65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21F99-B700-2038-CD5C-C6B265179A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1361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9940" y="1930401"/>
            <a:ext cx="11767544" cy="4439441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9940" y="6369840"/>
            <a:ext cx="11767544" cy="114856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0571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93750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942" y="3815645"/>
            <a:ext cx="11767543" cy="2554196"/>
          </a:xfrm>
        </p:spPr>
        <p:txBody>
          <a:bodyPr anchor="b"/>
          <a:lstStyle>
            <a:lvl1pPr algn="l">
              <a:defRPr sz="5333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9940" y="6369841"/>
            <a:ext cx="11767544" cy="1147200"/>
          </a:xfrm>
        </p:spPr>
        <p:txBody>
          <a:bodyPr anchor="t"/>
          <a:lstStyle>
            <a:lvl1pPr marL="0" indent="0" algn="l">
              <a:buNone/>
              <a:defRPr sz="2667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92242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1084" y="2747434"/>
            <a:ext cx="5861785" cy="559435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39325" y="2741457"/>
            <a:ext cx="5861788" cy="560032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5352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1084" y="2540000"/>
            <a:ext cx="5861784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1084" y="3352800"/>
            <a:ext cx="5861785" cy="4988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39328" y="2540000"/>
            <a:ext cx="5861785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39328" y="3352800"/>
            <a:ext cx="5861785" cy="4988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21545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58844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2388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937" y="1930400"/>
            <a:ext cx="4534752" cy="1930400"/>
          </a:xfrm>
        </p:spPr>
        <p:txBody>
          <a:bodyPr anchor="b"/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9489" y="1930400"/>
            <a:ext cx="6927996" cy="6096000"/>
          </a:xfrm>
        </p:spPr>
        <p:txBody>
          <a:bodyPr anchor="ctr"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938" y="4172374"/>
            <a:ext cx="4534751" cy="3860799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47214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8543" y="2472256"/>
            <a:ext cx="6790541" cy="2099744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6061" y="1524000"/>
            <a:ext cx="4267200" cy="609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939" y="4876800"/>
            <a:ext cx="6779972" cy="1828800"/>
          </a:xfrm>
        </p:spPr>
        <p:txBody>
          <a:bodyPr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8733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942" y="6400783"/>
            <a:ext cx="11767543" cy="755651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9940" y="914400"/>
            <a:ext cx="11767544" cy="48542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942" y="7156433"/>
            <a:ext cx="11767541" cy="65828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5393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940" y="1930400"/>
            <a:ext cx="11767545" cy="2641600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940" y="4876800"/>
            <a:ext cx="11767545" cy="3149600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7777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9736" y="1930400"/>
            <a:ext cx="10665753" cy="3097832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573867" y="5028232"/>
            <a:ext cx="9706199" cy="45623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67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940" y="5800876"/>
            <a:ext cx="11767545" cy="2235200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197727" y="1295004"/>
            <a:ext cx="1069216" cy="259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6266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40653" y="3485050"/>
            <a:ext cx="1069216" cy="259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6266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557872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939" y="4165601"/>
            <a:ext cx="11767547" cy="2204240"/>
          </a:xfrm>
        </p:spPr>
        <p:txBody>
          <a:bodyPr anchor="b"/>
          <a:lstStyle>
            <a:lvl1pPr algn="l">
              <a:defRPr sz="5333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9940" y="6369841"/>
            <a:ext cx="11767545" cy="1147200"/>
          </a:xfrm>
        </p:spPr>
        <p:txBody>
          <a:bodyPr anchor="t"/>
          <a:lstStyle>
            <a:lvl1pPr marL="0" indent="0" algn="l">
              <a:buNone/>
              <a:defRPr sz="2667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9011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929" y="2641600"/>
            <a:ext cx="3929155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9951" y="3556000"/>
            <a:ext cx="3903133" cy="4785784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78213" y="2641600"/>
            <a:ext cx="3914988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164141" y="3556000"/>
            <a:ext cx="3929059" cy="4785784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499601" y="2641600"/>
            <a:ext cx="3909484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9499601" y="3556000"/>
            <a:ext cx="3909484" cy="4785784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968189" y="2844800"/>
            <a:ext cx="0" cy="52832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282969" y="2844800"/>
            <a:ext cx="0" cy="5289176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95193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51" y="5667932"/>
            <a:ext cx="3920067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69951" y="2946400"/>
            <a:ext cx="3920067" cy="203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9951" y="6436282"/>
            <a:ext cx="3920067" cy="878919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5834" y="5667932"/>
            <a:ext cx="3907367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185833" y="2946400"/>
            <a:ext cx="3907367" cy="203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184030" y="6436281"/>
            <a:ext cx="3912541" cy="878919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499601" y="5667932"/>
            <a:ext cx="3909484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499599" y="2946400"/>
            <a:ext cx="3909484" cy="203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9499434" y="6436278"/>
            <a:ext cx="3914663" cy="878919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968189" y="2844800"/>
            <a:ext cx="0" cy="52832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9282969" y="2844800"/>
            <a:ext cx="0" cy="5289176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58661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79794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072284" y="573618"/>
            <a:ext cx="2336801" cy="7768167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9951" y="1183219"/>
            <a:ext cx="9897532" cy="71585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2665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1385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1"/>
            <a:ext cx="5382683" cy="55844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4"/>
            <a:ext cx="2029883" cy="3153937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1478683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4" y="1"/>
            <a:ext cx="2137849" cy="15218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9" cy="1016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3917083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1482" y="603624"/>
            <a:ext cx="12539631" cy="18673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1084" y="2737225"/>
            <a:ext cx="11928721" cy="5593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3540853" y="2387602"/>
            <a:ext cx="1320799" cy="4063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467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1935432" y="4300397"/>
            <a:ext cx="5146393" cy="4064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467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3803387" y="394306"/>
            <a:ext cx="1117599" cy="102358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733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8620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</p:sldLayoutIdLst>
  <p:hf sldNum="0" hdr="0" ftr="0" dt="0"/>
  <p:txStyles>
    <p:titleStyle>
      <a:lvl1pPr algn="l" defTabSz="609585" rtl="0" eaLnBrk="1" latinLnBrk="0" hangingPunct="1">
        <a:spcBef>
          <a:spcPct val="0"/>
        </a:spcBef>
        <a:buNone/>
        <a:defRPr sz="56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57189" indent="-457189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667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990575" indent="-380990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523962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33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2133547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743131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341250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3962301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4571886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5181470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073" y="2518241"/>
            <a:ext cx="14373853" cy="2412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7200" b="1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Early Stage lung cancer detection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35232" y="4826643"/>
            <a:ext cx="7585534" cy="403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Presented by - Group-7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80000"/>
              </a:lnSpc>
            </a:pP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M.Kalyani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-AP23110011343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8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                                           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K.Teja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Sree-AP23110011431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8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                                           G.Yamini-AP23110011448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8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                                           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G.Mohana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Krishna-AP23110011462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8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                                           R.Lohitha-AP23110011469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80000"/>
              </a:lnSpc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                                                            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                              </a:t>
            </a:r>
            <a:endParaRPr lang="en-US" sz="1600" dirty="0"/>
          </a:p>
        </p:txBody>
      </p:sp>
      <p:pic>
        <p:nvPicPr>
          <p:cNvPr id="1026" name="Picture 2" descr="SRM University, Andhra Pradesh - Wikipedia">
            <a:extLst>
              <a:ext uri="{FF2B5EF4-FFF2-40B4-BE49-F238E27FC236}">
                <a16:creationId xmlns:a16="http://schemas.microsoft.com/office/drawing/2014/main" id="{4201B857-3F5F-FE49-7760-07F1309A5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398" y="676365"/>
            <a:ext cx="2248040" cy="2234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51255" y="1037014"/>
            <a:ext cx="9646173" cy="151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6000" b="1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PROBLEM STATEMENT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97875" y="3858788"/>
            <a:ext cx="9460609" cy="3058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Lung cancer is one of the leading causes of death worldwide.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Early detection using manual analysis is difficult.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Diagnosis of CT scan images is time-consuming.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Human errors may occur during image interpretation.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Doctors need automated tools for faster and accurate diagnosis.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80000"/>
              </a:lnSpc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1EBAE39-BCC6-8A14-6E95-681E1F1F7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625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671F648-6CC9-C592-8F1B-77DFB1E63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625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1DA5E14-7B4D-0869-0DF2-678EC0F90DAB}"/>
              </a:ext>
            </a:extLst>
          </p:cNvPr>
          <p:cNvSpPr/>
          <p:nvPr/>
        </p:nvSpPr>
        <p:spPr>
          <a:xfrm>
            <a:off x="11146419" y="3179365"/>
            <a:ext cx="3946968" cy="3738254"/>
          </a:xfrm>
          <a:custGeom>
            <a:avLst/>
            <a:gdLst/>
            <a:ahLst/>
            <a:cxnLst/>
            <a:rect l="l" t="t" r="r" b="b"/>
            <a:pathLst>
              <a:path w="3593626" h="3786388">
                <a:moveTo>
                  <a:pt x="0" y="0"/>
                </a:moveTo>
                <a:lnTo>
                  <a:pt x="3593626" y="0"/>
                </a:lnTo>
                <a:lnTo>
                  <a:pt x="3593626" y="3786388"/>
                </a:lnTo>
                <a:lnTo>
                  <a:pt x="0" y="3786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2050" name="Picture 2" descr="Campus Automation">
            <a:extLst>
              <a:ext uri="{FF2B5EF4-FFF2-40B4-BE49-F238E27FC236}">
                <a16:creationId xmlns:a16="http://schemas.microsoft.com/office/drawing/2014/main" id="{910C0961-0CD2-0BC9-FAEE-458835D69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2612281" cy="93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11120" y="1346200"/>
            <a:ext cx="843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400" b="1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PROJECT OBJECTIVES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97000" y="3175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Automated Diagnosis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97000" y="3810000"/>
            <a:ext cx="3810000" cy="401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Develop a CNN-based system to classify lung CT scan images into six categories: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• Adenocarcinoma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• Benign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• Large Cell Carcinoma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• Malignant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• Normal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• Squamous Cell Carcinoma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23000" y="3175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Explainable AI (XAI)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23000" y="3810000"/>
            <a:ext cx="381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Use Grad-CAM to highlight suspicious tumor regions and explain model predictions visually.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Grad-CAM produces heatmaps that show which regions of the CT scan influenced the model's decision, making AI predictions transparent and interpretable.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049000" y="3175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Integrated Deployment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49000" y="3810000"/>
            <a:ext cx="381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Create a Flask-based web application for real-time prediction and report generation.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Users can upload CT scans, receive instant classification results, and view Grad-CAM heatmaps highlighting potential tumor regions.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486537" y="4485085"/>
            <a:ext cx="2997050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 descr="Campus Automation">
            <a:extLst>
              <a:ext uri="{FF2B5EF4-FFF2-40B4-BE49-F238E27FC236}">
                <a16:creationId xmlns:a16="http://schemas.microsoft.com/office/drawing/2014/main" id="{CBA45244-CE30-780D-6E54-A23E61DF4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3975"/>
            <a:ext cx="2612281" cy="93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9509" y="1186083"/>
            <a:ext cx="686635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400" b="1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IMPLEMENTATION </a:t>
            </a:r>
          </a:p>
        </p:txBody>
      </p:sp>
      <p:sp>
        <p:nvSpPr>
          <p:cNvPr id="3" name="Text 1"/>
          <p:cNvSpPr/>
          <p:nvPr/>
        </p:nvSpPr>
        <p:spPr>
          <a:xfrm>
            <a:off x="2124909" y="3131917"/>
            <a:ext cx="4169646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Algorithms &amp; Methods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55746" y="3131917"/>
            <a:ext cx="4349469" cy="7062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Tools &amp; Technologies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05000" y="3995517"/>
            <a:ext cx="5715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CNN</a:t>
            </a: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— Feature extraction and classification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905000" y="4920856"/>
            <a:ext cx="5715000" cy="588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MaxPooling2D</a:t>
            </a: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— Reducing image dimensions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05000" y="4579717"/>
            <a:ext cx="5715000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Dropout (0.5)</a:t>
            </a: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— Prevent overfitting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05000" y="6256117"/>
            <a:ext cx="5715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Grad-CAM</a:t>
            </a: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— Tumor localization and heatmap generation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271000" y="3995517"/>
            <a:ext cx="5715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TensorFlow / Keras</a:t>
            </a: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— Model training and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271000" y="3995517"/>
            <a:ext cx="5715000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Flask</a:t>
            </a: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— Web deployment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271000" y="3838172"/>
            <a:ext cx="5715000" cy="3510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OpenCV</a:t>
            </a: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— Image preprocessing and heatmap overlay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271000" y="3838172"/>
            <a:ext cx="5715000" cy="4780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NumPy</a:t>
            </a: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— Numerical operations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271000" y="4115399"/>
            <a:ext cx="5715000" cy="577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Matplotlib</a:t>
            </a: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— Visualization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2" descr="Campus Automation">
            <a:extLst>
              <a:ext uri="{FF2B5EF4-FFF2-40B4-BE49-F238E27FC236}">
                <a16:creationId xmlns:a16="http://schemas.microsoft.com/office/drawing/2014/main" id="{90D31CC6-21FA-ED2B-F314-2C54402D1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2612281" cy="93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7073" y="1168400"/>
            <a:ext cx="435465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000" b="1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Methodology     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422400" y="2463800"/>
            <a:ext cx="304800" cy="304800"/>
          </a:xfrm>
          <a:prstGeom prst="ellipse">
            <a:avLst/>
          </a:prstGeom>
          <a:solidFill>
            <a:srgbClr val="5C8E8F"/>
          </a:solidFill>
          <a:ln w="38100">
            <a:solidFill>
              <a:srgbClr val="F8F8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68400" y="2082800"/>
            <a:ext cx="81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5C8E8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01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2500" y="2984500"/>
            <a:ext cx="2159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5C8E8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Dataset Collection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Collect lung CT images belonging to six classes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43400" y="2463800"/>
            <a:ext cx="304800" cy="304800"/>
          </a:xfrm>
          <a:prstGeom prst="ellipse">
            <a:avLst/>
          </a:prstGeom>
          <a:solidFill>
            <a:srgbClr val="5C8E8F"/>
          </a:solidFill>
          <a:ln w="38100">
            <a:solidFill>
              <a:srgbClr val="F8F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9400" y="2082800"/>
            <a:ext cx="81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5C8E8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02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73500" y="2984500"/>
            <a:ext cx="2159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5C8E8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Preprocessing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Resize to 128×128×3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Normalize pixels (0–1)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Data augmentation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264400" y="2463800"/>
            <a:ext cx="304800" cy="304800"/>
          </a:xfrm>
          <a:prstGeom prst="ellipse">
            <a:avLst/>
          </a:prstGeom>
          <a:solidFill>
            <a:srgbClr val="5C8E8F"/>
          </a:solidFill>
          <a:ln w="38100">
            <a:solidFill>
              <a:srgbClr val="F8F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0400" y="2082800"/>
            <a:ext cx="81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5C8E8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03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94500" y="2984500"/>
            <a:ext cx="2159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5C8E8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Model Training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Train CNN model using training dataset and validate performance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185400" y="2463800"/>
            <a:ext cx="304800" cy="304800"/>
          </a:xfrm>
          <a:prstGeom prst="ellipse">
            <a:avLst/>
          </a:prstGeom>
          <a:solidFill>
            <a:srgbClr val="5C8E8F"/>
          </a:solidFill>
          <a:ln w="38100">
            <a:solidFill>
              <a:srgbClr val="F8F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31400" y="2082800"/>
            <a:ext cx="81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5C8E8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04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715500" y="2984500"/>
            <a:ext cx="2159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5C8E8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Evaluate model using unseen CT images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3106400" y="2463800"/>
            <a:ext cx="304800" cy="304800"/>
          </a:xfrm>
          <a:prstGeom prst="ellipse">
            <a:avLst/>
          </a:prstGeom>
          <a:solidFill>
            <a:srgbClr val="52594E"/>
          </a:solidFill>
          <a:ln w="38100">
            <a:solidFill>
              <a:srgbClr val="F8F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52400" y="2082800"/>
            <a:ext cx="81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636363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05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649200" y="2984500"/>
            <a:ext cx="2159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5D726F">
                    <a:alpha val="79608"/>
                  </a:srgb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Explainability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Apply Grad-CAM to show affected tumor regions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19200" y="4838700"/>
            <a:ext cx="13208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Pipeline Summary</a:t>
            </a:r>
            <a:r>
              <a:rPr lang="en-US" sz="2000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The workflow follows a standard deep learning pipeline — from data collection and preprocessing, through model training and validation, to final testing with Grad-CAM explainability.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2" descr="Campus Automation">
            <a:extLst>
              <a:ext uri="{FF2B5EF4-FFF2-40B4-BE49-F238E27FC236}">
                <a16:creationId xmlns:a16="http://schemas.microsoft.com/office/drawing/2014/main" id="{80BD0143-3CAD-D9C8-F6C8-2C1806A67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2612281" cy="93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0" y="1476736"/>
            <a:ext cx="1016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400" b="1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WORKING OF THE SYSTEM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805610" y="3429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28600" y="97601"/>
                </a:moveTo>
                <a:lnTo>
                  <a:pt x="228600" y="285750"/>
                </a:lnTo>
                <a:cubicBezTo>
                  <a:pt x="228600" y="301556"/>
                  <a:pt x="215831" y="314325"/>
                  <a:pt x="200025" y="314325"/>
                </a:cubicBezTo>
                <a:cubicBezTo>
                  <a:pt x="184219" y="314325"/>
                  <a:pt x="171450" y="301556"/>
                  <a:pt x="171450" y="285750"/>
                </a:cubicBezTo>
                <a:lnTo>
                  <a:pt x="171450" y="97601"/>
                </a:lnTo>
                <a:lnTo>
                  <a:pt x="134481" y="134570"/>
                </a:lnTo>
                <a:cubicBezTo>
                  <a:pt x="123319" y="145733"/>
                  <a:pt x="105192" y="145733"/>
                  <a:pt x="94030" y="134570"/>
                </a:cubicBezTo>
                <a:cubicBezTo>
                  <a:pt x="82867" y="123408"/>
                  <a:pt x="82867" y="105281"/>
                  <a:pt x="94030" y="94119"/>
                </a:cubicBezTo>
                <a:lnTo>
                  <a:pt x="179755" y="8394"/>
                </a:lnTo>
                <a:cubicBezTo>
                  <a:pt x="190917" y="-2768"/>
                  <a:pt x="209044" y="-2768"/>
                  <a:pt x="220206" y="8394"/>
                </a:cubicBezTo>
                <a:lnTo>
                  <a:pt x="305931" y="94119"/>
                </a:lnTo>
                <a:cubicBezTo>
                  <a:pt x="317093" y="105281"/>
                  <a:pt x="317093" y="123408"/>
                  <a:pt x="305931" y="134570"/>
                </a:cubicBezTo>
                <a:cubicBezTo>
                  <a:pt x="294769" y="145733"/>
                  <a:pt x="276642" y="145733"/>
                  <a:pt x="265480" y="134570"/>
                </a:cubicBezTo>
                <a:lnTo>
                  <a:pt x="228600" y="97601"/>
                </a:lnTo>
                <a:close/>
                <a:moveTo>
                  <a:pt x="200025" y="357188"/>
                </a:moveTo>
                <a:cubicBezTo>
                  <a:pt x="239494" y="357188"/>
                  <a:pt x="271463" y="325219"/>
                  <a:pt x="271463" y="285750"/>
                </a:cubicBezTo>
                <a:lnTo>
                  <a:pt x="342900" y="285750"/>
                </a:lnTo>
                <a:cubicBezTo>
                  <a:pt x="374422" y="285750"/>
                  <a:pt x="400050" y="311378"/>
                  <a:pt x="400050" y="342900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342900"/>
                </a:lnTo>
                <a:cubicBezTo>
                  <a:pt x="0" y="311378"/>
                  <a:pt x="25628" y="285750"/>
                  <a:pt x="57150" y="285750"/>
                </a:cubicBezTo>
                <a:lnTo>
                  <a:pt x="128588" y="285750"/>
                </a:lnTo>
                <a:cubicBezTo>
                  <a:pt x="128588" y="325219"/>
                  <a:pt x="160556" y="357188"/>
                  <a:pt x="200025" y="357188"/>
                </a:cubicBezTo>
                <a:close/>
                <a:moveTo>
                  <a:pt x="328613" y="378619"/>
                </a:moveTo>
                <a:cubicBezTo>
                  <a:pt x="340441" y="378619"/>
                  <a:pt x="350044" y="369016"/>
                  <a:pt x="350044" y="357188"/>
                </a:cubicBezTo>
                <a:cubicBezTo>
                  <a:pt x="350044" y="345359"/>
                  <a:pt x="340441" y="335756"/>
                  <a:pt x="328613" y="335756"/>
                </a:cubicBezTo>
                <a:cubicBezTo>
                  <a:pt x="316784" y="335756"/>
                  <a:pt x="307181" y="345359"/>
                  <a:pt x="307181" y="357188"/>
                </a:cubicBezTo>
                <a:cubicBezTo>
                  <a:pt x="307181" y="369016"/>
                  <a:pt x="316784" y="378619"/>
                  <a:pt x="328613" y="378619"/>
                </a:cubicBezTo>
                <a:close/>
              </a:path>
            </a:pathLst>
          </a:custGeom>
          <a:solidFill>
            <a:srgbClr val="5C8E8F"/>
          </a:solidFill>
          <a:ln/>
        </p:spPr>
      </p:sp>
      <p:sp>
        <p:nvSpPr>
          <p:cNvPr id="4" name="Text 2"/>
          <p:cNvSpPr/>
          <p:nvPr/>
        </p:nvSpPr>
        <p:spPr>
          <a:xfrm>
            <a:off x="1777035" y="4064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Input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777035" y="4699000"/>
            <a:ext cx="3556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User uploads a CT scan image through the web interface.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Supported formats: JPG, PNG, DICOM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45885" y="3429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E09F7D"/>
          </a:solidFill>
          <a:ln/>
        </p:spPr>
      </p:sp>
      <p:sp>
        <p:nvSpPr>
          <p:cNvPr id="7" name="Text 5"/>
          <p:cNvSpPr/>
          <p:nvPr/>
        </p:nvSpPr>
        <p:spPr>
          <a:xfrm>
            <a:off x="6603035" y="4064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Processing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03035" y="4699000"/>
            <a:ext cx="3810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• Image resized &amp; normalized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• CNN model predicts class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• np.argmax() selects highest probability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• Grad-CAM generates heatmap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• Heatmap merged with original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740185" y="3429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0" y="57150"/>
                </a:moveTo>
                <a:cubicBezTo>
                  <a:pt x="0" y="25628"/>
                  <a:pt x="25628" y="0"/>
                  <a:pt x="57150" y="0"/>
                </a:cubicBezTo>
                <a:lnTo>
                  <a:pt x="190649" y="0"/>
                </a:lnTo>
                <a:cubicBezTo>
                  <a:pt x="205829" y="0"/>
                  <a:pt x="220385" y="5983"/>
                  <a:pt x="231100" y="16699"/>
                </a:cubicBezTo>
                <a:lnTo>
                  <a:pt x="326201" y="111889"/>
                </a:lnTo>
                <a:cubicBezTo>
                  <a:pt x="336917" y="122605"/>
                  <a:pt x="342900" y="137160"/>
                  <a:pt x="342900" y="152340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185738" y="52239"/>
                </a:moveTo>
                <a:lnTo>
                  <a:pt x="185738" y="135731"/>
                </a:lnTo>
                <a:cubicBezTo>
                  <a:pt x="185738" y="147608"/>
                  <a:pt x="195292" y="157163"/>
                  <a:pt x="207169" y="157163"/>
                </a:cubicBezTo>
                <a:lnTo>
                  <a:pt x="290661" y="157163"/>
                </a:lnTo>
                <a:lnTo>
                  <a:pt x="185738" y="52239"/>
                </a:lnTo>
                <a:close/>
                <a:moveTo>
                  <a:pt x="142875" y="250031"/>
                </a:moveTo>
                <a:lnTo>
                  <a:pt x="142875" y="285750"/>
                </a:lnTo>
                <a:lnTo>
                  <a:pt x="107156" y="285750"/>
                </a:lnTo>
                <a:cubicBezTo>
                  <a:pt x="99298" y="285750"/>
                  <a:pt x="92869" y="292179"/>
                  <a:pt x="92869" y="300038"/>
                </a:cubicBezTo>
                <a:lnTo>
                  <a:pt x="92869" y="328613"/>
                </a:lnTo>
                <a:cubicBezTo>
                  <a:pt x="92869" y="336471"/>
                  <a:pt x="99298" y="342900"/>
                  <a:pt x="107156" y="342900"/>
                </a:cubicBezTo>
                <a:lnTo>
                  <a:pt x="142875" y="342900"/>
                </a:lnTo>
                <a:lnTo>
                  <a:pt x="142875" y="378619"/>
                </a:lnTo>
                <a:cubicBezTo>
                  <a:pt x="142875" y="386477"/>
                  <a:pt x="149304" y="392906"/>
                  <a:pt x="157163" y="392906"/>
                </a:cubicBezTo>
                <a:lnTo>
                  <a:pt x="185738" y="392906"/>
                </a:lnTo>
                <a:cubicBezTo>
                  <a:pt x="193596" y="392906"/>
                  <a:pt x="200025" y="386477"/>
                  <a:pt x="200025" y="378619"/>
                </a:cubicBezTo>
                <a:lnTo>
                  <a:pt x="200025" y="342900"/>
                </a:lnTo>
                <a:lnTo>
                  <a:pt x="235744" y="342900"/>
                </a:lnTo>
                <a:cubicBezTo>
                  <a:pt x="243602" y="342900"/>
                  <a:pt x="250031" y="336471"/>
                  <a:pt x="250031" y="328613"/>
                </a:cubicBezTo>
                <a:lnTo>
                  <a:pt x="250031" y="300038"/>
                </a:lnTo>
                <a:cubicBezTo>
                  <a:pt x="250031" y="292179"/>
                  <a:pt x="243602" y="285750"/>
                  <a:pt x="235744" y="285750"/>
                </a:cubicBezTo>
                <a:lnTo>
                  <a:pt x="200025" y="285750"/>
                </a:lnTo>
                <a:lnTo>
                  <a:pt x="200025" y="250031"/>
                </a:lnTo>
                <a:cubicBezTo>
                  <a:pt x="200025" y="242173"/>
                  <a:pt x="193596" y="235744"/>
                  <a:pt x="185738" y="235744"/>
                </a:cubicBezTo>
                <a:lnTo>
                  <a:pt x="157163" y="235744"/>
                </a:lnTo>
                <a:cubicBezTo>
                  <a:pt x="149304" y="235744"/>
                  <a:pt x="142875" y="242173"/>
                  <a:pt x="142875" y="250031"/>
                </a:cubicBezTo>
                <a:close/>
              </a:path>
            </a:pathLst>
          </a:custGeom>
          <a:solidFill>
            <a:srgbClr val="5C8E8F"/>
          </a:solidFill>
          <a:ln/>
        </p:spPr>
      </p:sp>
      <p:sp>
        <p:nvSpPr>
          <p:cNvPr id="10" name="Text 8"/>
          <p:cNvSpPr/>
          <p:nvPr/>
        </p:nvSpPr>
        <p:spPr>
          <a:xfrm>
            <a:off x="11683035" y="4064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Output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683035" y="4699000"/>
            <a:ext cx="3556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• Predicted cancer type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• Confidence score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• Tumor highlighted region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• Status message (Cancer / Normal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15635" y="584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5C8E8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95635" y="584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5C8E8F"/>
          </a:solidFill>
          <a:ln/>
        </p:spPr>
      </p:sp>
      <p:pic>
        <p:nvPicPr>
          <p:cNvPr id="14" name="Picture 2" descr="Campus Automation">
            <a:extLst>
              <a:ext uri="{FF2B5EF4-FFF2-40B4-BE49-F238E27FC236}">
                <a16:creationId xmlns:a16="http://schemas.microsoft.com/office/drawing/2014/main" id="{1E82AA2A-50B3-8C73-2EC4-269ADB16D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2612281" cy="93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0" y="736600"/>
            <a:ext cx="1016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400" b="1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CNN MODEL ARCHITECTURE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70000" y="2095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CNN Sequential Model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540000" y="2667000"/>
            <a:ext cx="4318000" cy="457200"/>
          </a:xfrm>
          <a:prstGeom prst="roundRect">
            <a:avLst>
              <a:gd name="adj" fmla="val 8000"/>
            </a:avLst>
          </a:prstGeom>
          <a:solidFill>
            <a:srgbClr val="5C8E8F"/>
          </a:solidFill>
          <a:ln/>
        </p:spPr>
      </p:sp>
      <p:sp>
        <p:nvSpPr>
          <p:cNvPr id="5" name="Text 3"/>
          <p:cNvSpPr/>
          <p:nvPr/>
        </p:nvSpPr>
        <p:spPr>
          <a:xfrm>
            <a:off x="2540000" y="2667000"/>
            <a:ext cx="431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Input Layer: 128 × 128 × 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635500" y="3124200"/>
            <a:ext cx="0" cy="177800"/>
          </a:xfrm>
          <a:prstGeom prst="straightConnector1">
            <a:avLst/>
          </a:prstGeom>
          <a:noFill/>
          <a:ln w="25400">
            <a:solidFill>
              <a:srgbClr val="7A878B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2540000" y="3302000"/>
            <a:ext cx="4318000" cy="457200"/>
          </a:xfrm>
          <a:prstGeom prst="roundRect">
            <a:avLst>
              <a:gd name="adj" fmla="val 8000"/>
            </a:avLst>
          </a:prstGeom>
          <a:solidFill>
            <a:srgbClr val="5C8E8F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40000" y="3302000"/>
            <a:ext cx="431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Conv2D (32 filters) + ReLU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35500" y="3759200"/>
            <a:ext cx="0" cy="177800"/>
          </a:xfrm>
          <a:prstGeom prst="straightConnector1">
            <a:avLst/>
          </a:prstGeom>
          <a:noFill/>
          <a:ln w="25400">
            <a:solidFill>
              <a:srgbClr val="7A878B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3048000" y="39370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7A878B">
              <a:alpha val="66667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048000" y="39370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MaxPooling2D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35500" y="4394200"/>
            <a:ext cx="0" cy="177800"/>
          </a:xfrm>
          <a:prstGeom prst="straightConnector1">
            <a:avLst/>
          </a:prstGeom>
          <a:noFill/>
          <a:ln w="25400">
            <a:solidFill>
              <a:srgbClr val="7A878B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2540000" y="4572000"/>
            <a:ext cx="4318000" cy="457200"/>
          </a:xfrm>
          <a:prstGeom prst="roundRect">
            <a:avLst>
              <a:gd name="adj" fmla="val 8000"/>
            </a:avLst>
          </a:prstGeom>
          <a:solidFill>
            <a:srgbClr val="5C8E8F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540000" y="4572000"/>
            <a:ext cx="431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Conv2D (64 filters) + ReLU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35500" y="5029200"/>
            <a:ext cx="0" cy="177800"/>
          </a:xfrm>
          <a:prstGeom prst="straightConnector1">
            <a:avLst/>
          </a:prstGeom>
          <a:noFill/>
          <a:ln w="25400">
            <a:solidFill>
              <a:srgbClr val="7A878B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3048000" y="52070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7A878B">
              <a:alpha val="66667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048000" y="52070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MaxPooling2D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35500" y="5664200"/>
            <a:ext cx="0" cy="177800"/>
          </a:xfrm>
          <a:prstGeom prst="straightConnector1">
            <a:avLst/>
          </a:prstGeom>
          <a:noFill/>
          <a:ln w="25400">
            <a:solidFill>
              <a:srgbClr val="7A878B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3302000" y="5842000"/>
            <a:ext cx="2794000" cy="457200"/>
          </a:xfrm>
          <a:prstGeom prst="roundRect">
            <a:avLst>
              <a:gd name="adj" fmla="val 8000"/>
            </a:avLst>
          </a:prstGeom>
          <a:solidFill>
            <a:srgbClr val="E09F7D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302000" y="5842000"/>
            <a:ext cx="279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Dropout (0.5)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35500" y="6299200"/>
            <a:ext cx="0" cy="177800"/>
          </a:xfrm>
          <a:prstGeom prst="straightConnector1">
            <a:avLst/>
          </a:prstGeom>
          <a:noFill/>
          <a:ln w="25400">
            <a:solidFill>
              <a:srgbClr val="7A878B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556000" y="647700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7A878B">
              <a:alpha val="66667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556000" y="6477000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Flatten Layer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35500" y="6934200"/>
            <a:ext cx="0" cy="177800"/>
          </a:xfrm>
          <a:prstGeom prst="straightConnector1">
            <a:avLst/>
          </a:prstGeom>
          <a:noFill/>
          <a:ln w="25400">
            <a:solidFill>
              <a:srgbClr val="7A878B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3048000" y="71120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5C8E8F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048000" y="71120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Dense (128 units) + ReLU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271000" y="2286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Architecture Purpose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271000" y="3048000"/>
            <a:ext cx="5588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5C8E8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Feature Extraction</a:t>
            </a:r>
            <a:r>
              <a:rPr lang="en-US" sz="2000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— Conv2D layers detect edges, textures, and tumor boundaries in CT scans.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5C8E8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Dimensionality Reduction</a:t>
            </a:r>
            <a:r>
              <a:rPr lang="en-US" sz="2000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— MaxPooling2D reduces spatial dimensions while preserving key features.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5C8E8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Overfitting Prevention</a:t>
            </a:r>
            <a:r>
              <a:rPr lang="en-US" sz="2000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— Dropout (0.5) deactivates random neurons to improve generalization.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5C8E8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Classification</a:t>
            </a:r>
            <a:r>
              <a:rPr lang="en-US" sz="2000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— Dense + Softmax outputs probabilities for 6 categories.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" descr="Campus Automation">
            <a:extLst>
              <a:ext uri="{FF2B5EF4-FFF2-40B4-BE49-F238E27FC236}">
                <a16:creationId xmlns:a16="http://schemas.microsoft.com/office/drawing/2014/main" id="{DF9A72B2-FD3E-C17C-9886-C9BF4E8F3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2612281" cy="93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0" y="1025645"/>
            <a:ext cx="1016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400" b="1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RESULTS &amp; ACHIEVEMENTS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28516" y="3125486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Achievements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94516" y="3125486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Expected Benefits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17516" y="4039886"/>
            <a:ext cx="5715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Multi-class Classification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Lung CT images classified into six categories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217516" y="4417889"/>
            <a:ext cx="5715000" cy="1857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Real-time Prediction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Flask web app delivers instant classification results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17516" y="4624086"/>
            <a:ext cx="5715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Grad-CAM Visualization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Correctly highlights suspicious tumor regions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217516" y="4799264"/>
            <a:ext cx="5715000" cy="4269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User-friendly Dashboard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Intuitive web interface for medical professionals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83516" y="4039886"/>
            <a:ext cx="5715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Faster Diagnosis Support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Reduces time for initial screening assessment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583516" y="4624086"/>
            <a:ext cx="5715000" cy="1471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Clinical Decision Support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Helps radiologists in decision making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583516" y="4975715"/>
            <a:ext cx="5715000" cy="2696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Transparent AI System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Grad-CAM provides visual explanation for predictions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 descr="Campus Automation">
            <a:extLst>
              <a:ext uri="{FF2B5EF4-FFF2-40B4-BE49-F238E27FC236}">
                <a16:creationId xmlns:a16="http://schemas.microsoft.com/office/drawing/2014/main" id="{409FD1A0-0038-4E99-597F-BB8503139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4592"/>
            <a:ext cx="2612281" cy="93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86A713-58BB-C683-753E-7EF4CBBCB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31085EB-3766-3ADF-59D9-1145E3862B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78" b="6075"/>
          <a:stretch>
            <a:fillRect/>
          </a:stretch>
        </p:blipFill>
        <p:spPr>
          <a:xfrm>
            <a:off x="2911033" y="2181407"/>
            <a:ext cx="10433934" cy="5267321"/>
          </a:xfrm>
          <a:prstGeom prst="rect">
            <a:avLst/>
          </a:prstGeom>
        </p:spPr>
      </p:pic>
      <p:sp>
        <p:nvSpPr>
          <p:cNvPr id="15" name="Text 0">
            <a:extLst>
              <a:ext uri="{FF2B5EF4-FFF2-40B4-BE49-F238E27FC236}">
                <a16:creationId xmlns:a16="http://schemas.microsoft.com/office/drawing/2014/main" id="{C7D25309-52EB-6F46-CF2D-594E4E2B7466}"/>
              </a:ext>
            </a:extLst>
          </p:cNvPr>
          <p:cNvSpPr/>
          <p:nvPr/>
        </p:nvSpPr>
        <p:spPr>
          <a:xfrm>
            <a:off x="6306916" y="720845"/>
            <a:ext cx="364216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400" b="1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OUTPUTS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97696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6FD77B-FA81-8B25-276A-A154C7403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978B3C2-DD6A-7318-1F05-3CC2B1EDE2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89" b="4594"/>
          <a:stretch>
            <a:fillRect/>
          </a:stretch>
        </p:blipFill>
        <p:spPr>
          <a:xfrm>
            <a:off x="630193" y="351603"/>
            <a:ext cx="8067791" cy="41395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831CE6A-ECE0-B5BD-ABB6-DFC3E60E09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45" b="5541"/>
          <a:stretch>
            <a:fillRect/>
          </a:stretch>
        </p:blipFill>
        <p:spPr>
          <a:xfrm>
            <a:off x="7846541" y="4652884"/>
            <a:ext cx="8067791" cy="4112196"/>
          </a:xfrm>
          <a:prstGeom prst="rect">
            <a:avLst/>
          </a:prstGeom>
        </p:spPr>
      </p:pic>
      <p:pic>
        <p:nvPicPr>
          <p:cNvPr id="2" name="Picture 2" descr="Campus Automation">
            <a:extLst>
              <a:ext uri="{FF2B5EF4-FFF2-40B4-BE49-F238E27FC236}">
                <a16:creationId xmlns:a16="http://schemas.microsoft.com/office/drawing/2014/main" id="{791D88F8-3999-1AAB-5AC8-A9DB24642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44" y="7858942"/>
            <a:ext cx="2612281" cy="93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55616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B8697-3B90-C78C-EBFB-D0729CFDB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EA3289D-3D55-6FA8-777E-8B39EF65E3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19" b="5811"/>
          <a:stretch>
            <a:fillRect/>
          </a:stretch>
        </p:blipFill>
        <p:spPr>
          <a:xfrm>
            <a:off x="642551" y="407587"/>
            <a:ext cx="7574693" cy="38462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D83293F-37C2-6CBB-D420-740FB8A56C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48" b="5946"/>
          <a:stretch>
            <a:fillRect/>
          </a:stretch>
        </p:blipFill>
        <p:spPr>
          <a:xfrm>
            <a:off x="7792014" y="4572000"/>
            <a:ext cx="8139785" cy="4139328"/>
          </a:xfrm>
          <a:prstGeom prst="rect">
            <a:avLst/>
          </a:prstGeom>
        </p:spPr>
      </p:pic>
      <p:pic>
        <p:nvPicPr>
          <p:cNvPr id="2" name="Picture 2" descr="Campus Automation">
            <a:extLst>
              <a:ext uri="{FF2B5EF4-FFF2-40B4-BE49-F238E27FC236}">
                <a16:creationId xmlns:a16="http://schemas.microsoft.com/office/drawing/2014/main" id="{82119DFD-2919-25C3-2E38-BE5939AAE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01" y="7802958"/>
            <a:ext cx="2612281" cy="93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714705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6353B-FEB7-966C-F06F-1A5F4E242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ampus Automation">
            <a:extLst>
              <a:ext uri="{FF2B5EF4-FFF2-40B4-BE49-F238E27FC236}">
                <a16:creationId xmlns:a16="http://schemas.microsoft.com/office/drawing/2014/main" id="{EB729913-8C77-031C-ECD8-7ACFD16F4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01" y="7802958"/>
            <a:ext cx="2612281" cy="93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619616-5295-ED37-4712-38AA4DAD39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0" t="8916" r="-570" b="5036"/>
          <a:stretch>
            <a:fillRect/>
          </a:stretch>
        </p:blipFill>
        <p:spPr>
          <a:xfrm>
            <a:off x="3190503" y="1782501"/>
            <a:ext cx="9708838" cy="469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0074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2253" y="866440"/>
            <a:ext cx="1016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5400" b="1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PROJECT TIMELINE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778000" y="3084332"/>
            <a:ext cx="304800" cy="304800"/>
          </a:xfrm>
          <a:prstGeom prst="ellipse">
            <a:avLst/>
          </a:prstGeom>
          <a:solidFill>
            <a:srgbClr val="5C8E8F"/>
          </a:solidFill>
          <a:ln w="38100">
            <a:solidFill>
              <a:srgbClr val="F8F8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0000" y="2576332"/>
            <a:ext cx="1320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5C8E8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Phase 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3774232"/>
            <a:ext cx="2286000" cy="1989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Data Collection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Dataset collection and preprocessing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07000" y="3084332"/>
            <a:ext cx="304800" cy="304800"/>
          </a:xfrm>
          <a:prstGeom prst="ellipse">
            <a:avLst/>
          </a:prstGeom>
          <a:solidFill>
            <a:srgbClr val="5C8E8F"/>
          </a:solidFill>
          <a:ln w="38100">
            <a:solidFill>
              <a:srgbClr val="F8F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99000" y="2576332"/>
            <a:ext cx="1320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5C8E8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Phase 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18000" y="3911892"/>
            <a:ext cx="2286000" cy="18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Model Training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CNN model training and tuning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36000" y="3084332"/>
            <a:ext cx="304800" cy="304800"/>
          </a:xfrm>
          <a:prstGeom prst="ellipse">
            <a:avLst/>
          </a:prstGeom>
          <a:solidFill>
            <a:srgbClr val="5C8E8F"/>
          </a:solidFill>
          <a:ln w="38100">
            <a:solidFill>
              <a:srgbClr val="F8F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0" y="2576332"/>
            <a:ext cx="1320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5C8E8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Phase 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47000" y="3986819"/>
            <a:ext cx="2286000" cy="2018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Integration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Grad-CAM + Flask backend development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2065000" y="3084332"/>
            <a:ext cx="304800" cy="304800"/>
          </a:xfrm>
          <a:prstGeom prst="ellipse">
            <a:avLst/>
          </a:prstGeom>
          <a:solidFill>
            <a:srgbClr val="5B5552"/>
          </a:solidFill>
          <a:ln w="38100">
            <a:solidFill>
              <a:srgbClr val="F8F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57000" y="2576332"/>
            <a:ext cx="1320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554C47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Phase 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176000" y="3911892"/>
            <a:ext cx="2286000" cy="209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Current Stage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UI design, testing, review prep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651000" y="5243332"/>
            <a:ext cx="1320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Current Status</a:t>
            </a:r>
            <a:r>
              <a:rPr lang="en-US" sz="2400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: The project has completed data collection, model training, and backend integration. We are now in Phase 4 — finalizing the UI design, conducting system testing, and preparing for this review.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2" descr="Campus Automation">
            <a:extLst>
              <a:ext uri="{FF2B5EF4-FFF2-40B4-BE49-F238E27FC236}">
                <a16:creationId xmlns:a16="http://schemas.microsoft.com/office/drawing/2014/main" id="{0B9A7B19-A66B-3C2C-86B7-9CF75E5D9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2612281" cy="93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0" y="825500"/>
            <a:ext cx="1016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400" b="1" dirty="0">
                <a:solidFill>
                  <a:srgbClr val="333C4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FUTURE SCOPE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97000" y="28575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Transfer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97000" y="3365500"/>
            <a:ext cx="393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Use ResNet50 / EfficientNet pre-trained models for higher classification accuracy.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23000" y="28575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Cloud Deployment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23000" y="3365500"/>
            <a:ext cx="393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Deploy on AWS / Google Cloud for remote access and scalability.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049000" y="28575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Multi-view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49000" y="3365500"/>
            <a:ext cx="393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Use frontal + lateral CT scans together for comprehensive diagnosis.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97000" y="6032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Automatic Medical Reports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97000" y="65405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Generate automatic PDF diagnostic reports with classification results, confidence scores, and Grad-CAM visualizations for medical records.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09000" y="6032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33C4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Higher Accuracy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09000" y="6540500"/>
            <a:ext cx="635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7A878B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Use larger datasets and advanced augmentation techniques (rotation, zoom, flip, brightness) to improve model generalization and accuracy.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2" descr="Campus Automation">
            <a:extLst>
              <a:ext uri="{FF2B5EF4-FFF2-40B4-BE49-F238E27FC236}">
                <a16:creationId xmlns:a16="http://schemas.microsoft.com/office/drawing/2014/main" id="{D11757A8-947C-4EB7-1A77-6B9894A8B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2612281" cy="93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79984" y="1243740"/>
            <a:ext cx="5385414" cy="642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333333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CONCLUSION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019475" y="3069439"/>
            <a:ext cx="8706431" cy="50418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This project presents an effective approach for lung cancer classification and localization using Deep Learning and Grad-CAM.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The model provides accurate predictions, while Grad-CAM highlights important regions for better interpretability.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Integrated with Flask, the system offers real-time analysis and represents a promising step toward faster and smarter healthcare diagnosis.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Campus Automation">
            <a:extLst>
              <a:ext uri="{FF2B5EF4-FFF2-40B4-BE49-F238E27FC236}">
                <a16:creationId xmlns:a16="http://schemas.microsoft.com/office/drawing/2014/main" id="{E24BC26E-0D48-FE4C-02C6-DD775B102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2612281" cy="93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2116" y="3286053"/>
            <a:ext cx="9709873" cy="43012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333333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THANK YOU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95</TotalTime>
  <Words>812</Words>
  <Application>Microsoft Office PowerPoint</Application>
  <PresentationFormat>Custom</PresentationFormat>
  <Paragraphs>158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微软雅黑</vt:lpstr>
      <vt:lpstr>Arial</vt:lpstr>
      <vt:lpstr>Calibri</vt:lpstr>
      <vt:lpstr>Century Gothic</vt:lpstr>
      <vt:lpstr>Times New Roman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Lung Cancer Classification and Localization Using Deep Learning and Grad-CAM</dc:title>
  <dc:subject>Lung Cancer Classification and Localization Using Deep Learning and Grad-CAM</dc:subject>
  <dc:creator>Kimi</dc:creator>
  <cp:lastModifiedBy>Murakonda Pavani</cp:lastModifiedBy>
  <cp:revision>5</cp:revision>
  <dcterms:created xsi:type="dcterms:W3CDTF">2026-04-22T19:37:30Z</dcterms:created>
  <dcterms:modified xsi:type="dcterms:W3CDTF">2026-04-23T09:02:01Z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{"Label":"Lung Cancer Classification and Localization Using Deep Learning and Grad-CAM","ContentProducer":"001191110108MACG2KBH8F10000","ProduceID":"19db64ef-8422-8ea4-8000-0000280212ff","ReservedCode1":"","ContentPropagator":"001191110108MACG2KBH8F20000","PropagateID":"19db64ef-8422-8ea4-8000-0000280212ff","ReservedCode2":""}</vt:lpwstr>
  </property>
</Properties>
</file>